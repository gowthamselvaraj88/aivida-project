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33"/>
          </a:solidFill>
          <a:ln>
            <a:solidFill>
              <a:srgbClr val="004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05C3D"/>
          </a:solidFill>
          <a:ln w="19050"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A7F3D0"/>
                </a:solidFill>
              </a:defRPr>
            </a:pPr>
            <a:r>
              <a:t>AIVIDA TELEHEALTH PLATFORM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Healthcare Simplified for Everyone</a:t>
            </a:r>
          </a:p>
          <a:p>
            <a:pPr>
              <a:spcAft>
                <a:spcPts val="3000"/>
              </a:spcAft>
              <a:defRPr sz="1800">
                <a:solidFill>
                  <a:srgbClr val="D1FAE5"/>
                </a:solidFill>
              </a:defRPr>
            </a:pPr>
            <a:r>
              <a:t>A Non-Technical Guide: How Patients and Doctors Connect Seamlessly from Booking to Prescription.</a:t>
            </a:r>
          </a:p>
          <a:p>
            <a:pPr>
              <a:defRPr sz="1300" b="1">
                <a:solidFill>
                  <a:srgbClr val="FEF08A"/>
                </a:solidFill>
              </a:defRPr>
            </a:pPr>
            <a:r>
              <a:t>• Patient Care Portal  |  • Doctor Clinical Portal  |  • Happy Path Flow  |  • Interactive Block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OVERVIEW FOR EVERYONE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The Big Picture: What is AIvida?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Bridging the gap between home comfort and clinical expertise without delays or paperwork.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779776" cy="109728"/>
          </a:xfrm>
          <a:prstGeom prst="roundRect">
            <a:avLst/>
          </a:prstGeom>
          <a:solidFill>
            <a:srgbClr val="00B074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B074"/>
                </a:solidFill>
              </a:defRPr>
            </a:pPr>
            <a:r>
              <a:t>PILLAR 01</a:t>
            </a:r>
          </a:p>
          <a:p>
            <a:pPr>
              <a:spcAft>
                <a:spcPts val="1200"/>
              </a:spcAft>
              <a:defRPr sz="2000" b="1">
                <a:solidFill>
                  <a:srgbClr val="111827"/>
                </a:solidFill>
              </a:defRPr>
            </a:pPr>
            <a:r>
              <a:t>No Waiting Rooms</a:t>
            </a:r>
          </a:p>
          <a:p>
            <a:pPr>
              <a:spcAft>
                <a:spcPts val="1600"/>
              </a:spcAft>
              <a:defRPr sz="1300">
                <a:solidFill>
                  <a:srgbClr val="6B7280"/>
                </a:solidFill>
              </a:defRPr>
            </a:pPr>
            <a:r>
              <a:t>Patients connect directly with top-rated medical specialists from their phone, tablet, or PC in seconds.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</a:defRPr>
            </a:pPr>
            <a:r>
              <a:t>Key Layman Benefit:</a:t>
            </a:r>
          </a:p>
          <a:p>
            <a:pPr>
              <a:defRPr sz="1100">
                <a:solidFill>
                  <a:srgbClr val="004D33"/>
                </a:solidFill>
              </a:defRPr>
            </a:pPr>
            <a:r>
              <a:t>Consult right from your living room without sitting in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0016" y="1920240"/>
            <a:ext cx="2779776" cy="1097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19456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PILLAR 02</a:t>
            </a:r>
          </a:p>
          <a:p>
            <a:pPr>
              <a:spcAft>
                <a:spcPts val="1200"/>
              </a:spcAft>
              <a:defRPr sz="2000" b="1">
                <a:solidFill>
                  <a:srgbClr val="111827"/>
                </a:solidFill>
              </a:defRPr>
            </a:pPr>
            <a:r>
              <a:t>Clinical Precision</a:t>
            </a:r>
          </a:p>
          <a:p>
            <a:pPr>
              <a:spcAft>
                <a:spcPts val="1600"/>
              </a:spcAft>
              <a:defRPr sz="1300">
                <a:solidFill>
                  <a:srgbClr val="6B7280"/>
                </a:solidFill>
              </a:defRPr>
            </a:pPr>
            <a:r>
              <a:t>Doctors have a full digital cockpit: live vital statistics, patient history, and 1-click video consultations.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</a:defRPr>
            </a:pPr>
            <a:r>
              <a:t>Key Layman Benefit:</a:t>
            </a:r>
          </a:p>
          <a:p>
            <a:pPr>
              <a:defRPr sz="1100">
                <a:solidFill>
                  <a:srgbClr val="004D33"/>
                </a:solidFill>
              </a:defRPr>
            </a:pPr>
            <a:r>
              <a:t>Physicians spend more time caring and less time typing.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94192" y="1920240"/>
            <a:ext cx="2779776" cy="10972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19456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PILLAR 03</a:t>
            </a:r>
          </a:p>
          <a:p>
            <a:pPr>
              <a:spcAft>
                <a:spcPts val="1200"/>
              </a:spcAft>
              <a:defRPr sz="2000" b="1">
                <a:solidFill>
                  <a:srgbClr val="111827"/>
                </a:solidFill>
              </a:defRPr>
            </a:pPr>
            <a:r>
              <a:t>Zero Lost Paperwork</a:t>
            </a:r>
          </a:p>
          <a:p>
            <a:pPr>
              <a:spcAft>
                <a:spcPts val="1600"/>
              </a:spcAft>
              <a:defRPr sz="1300">
                <a:solidFill>
                  <a:srgbClr val="6B7280"/>
                </a:solidFill>
              </a:defRPr>
            </a:pPr>
            <a:r>
              <a:t>Digital prescriptions, diagnosis summaries, and consultation records are stored securely and accessible forever.</a:t>
            </a:r>
          </a:p>
          <a:p>
            <a:pPr>
              <a:spcAft>
                <a:spcPts val="400"/>
              </a:spcAft>
              <a:defRPr sz="1100" b="1">
                <a:solidFill>
                  <a:srgbClr val="111827"/>
                </a:solidFill>
              </a:defRPr>
            </a:pPr>
            <a:r>
              <a:t>Key Layman Benefit:</a:t>
            </a:r>
          </a:p>
          <a:p>
            <a:pPr>
              <a:defRPr sz="1100">
                <a:solidFill>
                  <a:srgbClr val="004D33"/>
                </a:solidFill>
              </a:defRPr>
            </a:pPr>
            <a:r>
              <a:t>No fading paper slips; pharmacy can read electronic orders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APP 1: PATIENT CARE EXPERIENCE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The Patient Care Portal (localhost:3001)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Designed for utmost simplicity: find doctors, schedule appointments, and join calls with zero confusion.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11827"/>
                </a:solidFill>
              </a:defRPr>
            </a:pPr>
            <a:r>
              <a:t>What Can a Patient Do Here?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Find the Right Doctor: </a:t>
            </a:r>
            <a:r>
              <a:rPr b="0">
                <a:solidFill>
                  <a:srgbClr val="6B7280"/>
                </a:solidFill>
              </a:rPr>
              <a:t>Browse verified physicians with specialization, availability, and qualifications clearly displayed.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Pick Convenient Times: </a:t>
            </a:r>
            <a:r>
              <a:rPr b="0">
                <a:solidFill>
                  <a:srgbClr val="6B7280"/>
                </a:solidFill>
              </a:rPr>
              <a:t>Select morning, afternoon, or evening slots with 1-click confirmation.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No Apps or Downloads: </a:t>
            </a:r>
            <a:r>
              <a:rPr b="0">
                <a:solidFill>
                  <a:srgbClr val="6B7280"/>
                </a:solidFill>
              </a:rPr>
              <a:t>Video calls launch straight in the browser with crystal clear audio &amp; video.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Health History &amp; Prescriptions: </a:t>
            </a:r>
            <a:r>
              <a:rPr b="0">
                <a:solidFill>
                  <a:srgbClr val="6B7280"/>
                </a:solidFill>
              </a:rPr>
              <a:t>View past consultations, active medication instructions, and upcoming checkups.</a:t>
            </a:r>
          </a:p>
        </p:txBody>
      </p:sp>
      <p:pic>
        <p:nvPicPr>
          <p:cNvPr id="5" name="Picture 4" descr="patient_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40080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APP 2: PRACTICE WORKSPACE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The Doctor Clinical Portal (localhost:3000)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A powerful clinical command center that organizes the doctor's entire day into a single organized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11827"/>
                </a:solidFill>
              </a:defRPr>
            </a:pPr>
            <a:r>
              <a:t>What Can a Doctor Do Here?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Practice Availability Toggle: </a:t>
            </a:r>
            <a:r>
              <a:rPr b="0">
                <a:solidFill>
                  <a:srgbClr val="6B7280"/>
                </a:solidFill>
              </a:rPr>
              <a:t>Go online/offline instantly with a single button to accept or pause walk-in telehealth slots.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At-a-Glance Telemetry: </a:t>
            </a:r>
            <a:r>
              <a:rPr b="0">
                <a:solidFill>
                  <a:srgbClr val="6B7280"/>
                </a:solidFill>
              </a:rPr>
              <a:t>Review daily appointments, patient counts, vital statistics, and clinical telemetry cards.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Live Patient Queue: </a:t>
            </a:r>
            <a:r>
              <a:rPr b="0">
                <a:solidFill>
                  <a:srgbClr val="6B7280"/>
                </a:solidFill>
              </a:rPr>
              <a:t>Organized consultation schedule with direct 'Start Call' buttons for scheduled time slots.</a:t>
            </a:r>
          </a:p>
          <a:p>
            <a:pPr>
              <a:spcAft>
                <a:spcPts val="800"/>
              </a:spcAft>
              <a:defRPr sz="1200" b="1">
                <a:solidFill>
                  <a:srgbClr val="00B074"/>
                </a:solidFill>
              </a:defRPr>
            </a:pPr>
            <a:r>
              <a:t>• Digital Prescription Pad: </a:t>
            </a:r>
            <a:r>
              <a:rPr b="0">
                <a:solidFill>
                  <a:srgbClr val="6B7280"/>
                </a:solidFill>
              </a:rPr>
              <a:t>Generate verified medical prescriptions with dosage, frequency, and instructions in seconds.</a:t>
            </a:r>
          </a:p>
        </p:txBody>
      </p:sp>
      <p:pic>
        <p:nvPicPr>
          <p:cNvPr id="5" name="Picture 4" descr="doc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40080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END-TO-END USER EXPERIENCE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The Happy Path: From Sickness to Prescription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A seamless 5-step journey that takes less than 15 minutes from start to finish.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74520"/>
            <a:ext cx="91440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700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Search &amp; Select</a:t>
            </a:r>
          </a:p>
          <a:p>
            <a:pPr>
              <a:spcAft>
                <a:spcPts val="1400"/>
              </a:spcAft>
              <a:defRPr sz="1100">
                <a:solidFill>
                  <a:srgbClr val="6B7280"/>
                </a:solidFill>
              </a:defRPr>
            </a:pPr>
            <a:r>
              <a:t>Patient opens portal, searches doctor by specialty, and reviews credentials.</a:t>
            </a:r>
          </a:p>
          <a:p>
            <a:pPr>
              <a:spcAft>
                <a:spcPts val="200"/>
              </a:spcAft>
              <a:defRPr sz="1000" b="1">
                <a:solidFill>
                  <a:srgbClr val="111827"/>
                </a:solidFill>
              </a:defRPr>
            </a:pPr>
            <a:r>
              <a:t>Involved App: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Patient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27248" y="1874520"/>
            <a:ext cx="914400" cy="320040"/>
          </a:xfrm>
          <a:prstGeom prst="roundRect">
            <a:avLst/>
          </a:prstGeom>
          <a:solidFill>
            <a:srgbClr val="00B074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31720"/>
            <a:ext cx="1700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Book &amp; Confirm</a:t>
            </a:r>
          </a:p>
          <a:p>
            <a:pPr>
              <a:spcAft>
                <a:spcPts val="1400"/>
              </a:spcAft>
              <a:defRPr sz="1100">
                <a:solidFill>
                  <a:srgbClr val="6B7280"/>
                </a:solidFill>
              </a:defRPr>
            </a:pPr>
            <a:r>
              <a:t>Selects an available slot. Database instantly reserves slot and sends confirmation.</a:t>
            </a:r>
          </a:p>
          <a:p>
            <a:pPr>
              <a:spcAft>
                <a:spcPts val="200"/>
              </a:spcAft>
              <a:defRPr sz="1000" b="1">
                <a:solidFill>
                  <a:srgbClr val="111827"/>
                </a:solidFill>
              </a:defRPr>
            </a:pPr>
            <a:r>
              <a:t>Involved App:</a:t>
            </a:r>
          </a:p>
          <a:p>
            <a:pPr>
              <a:defRPr sz="1100" b="1">
                <a:solidFill>
                  <a:srgbClr val="00B074"/>
                </a:solidFill>
              </a:defRPr>
            </a:pPr>
            <a:r>
              <a:t>Cloud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7216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40096" y="1874520"/>
            <a:ext cx="914400" cy="3200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331720"/>
            <a:ext cx="1700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Join Call</a:t>
            </a:r>
          </a:p>
          <a:p>
            <a:pPr>
              <a:spcAft>
                <a:spcPts val="1400"/>
              </a:spcAft>
              <a:defRPr sz="1100">
                <a:solidFill>
                  <a:srgbClr val="6B7280"/>
                </a:solidFill>
              </a:defRPr>
            </a:pPr>
            <a:r>
              <a:t>Both patient and doctor tap 'Join Consultation'. Video call launches instantly in HD.</a:t>
            </a:r>
          </a:p>
          <a:p>
            <a:pPr>
              <a:spcAft>
                <a:spcPts val="200"/>
              </a:spcAft>
              <a:defRPr sz="1000" b="1">
                <a:solidFill>
                  <a:srgbClr val="111827"/>
                </a:solidFill>
              </a:defRPr>
            </a:pPr>
            <a:r>
              <a:t>Involved App: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Both Portals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4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52944" y="1874520"/>
            <a:ext cx="91440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331720"/>
            <a:ext cx="1700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Live Telemetry</a:t>
            </a:r>
          </a:p>
          <a:p>
            <a:pPr>
              <a:spcAft>
                <a:spcPts val="1400"/>
              </a:spcAft>
              <a:defRPr sz="1100">
                <a:solidFill>
                  <a:srgbClr val="6B7280"/>
                </a:solidFill>
              </a:defRPr>
            </a:pPr>
            <a:r>
              <a:t>Doctor reviews live health telemetry, discusses symptoms, and gives medical counsel.</a:t>
            </a:r>
          </a:p>
          <a:p>
            <a:pPr>
              <a:spcAft>
                <a:spcPts val="200"/>
              </a:spcAft>
              <a:defRPr sz="1000" b="1">
                <a:solidFill>
                  <a:srgbClr val="111827"/>
                </a:solidFill>
              </a:defRPr>
            </a:pPr>
            <a:r>
              <a:t>Involved App: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Doctor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82912" y="1645920"/>
            <a:ext cx="206654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65792" y="1874520"/>
            <a:ext cx="914400" cy="320040"/>
          </a:xfrm>
          <a:prstGeom prst="roundRect">
            <a:avLst/>
          </a:prstGeom>
          <a:solidFill>
            <a:srgbClr val="00B074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2331720"/>
            <a:ext cx="1700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Rx Delivered</a:t>
            </a:r>
          </a:p>
          <a:p>
            <a:pPr>
              <a:spcAft>
                <a:spcPts val="1400"/>
              </a:spcAft>
              <a:defRPr sz="1100">
                <a:solidFill>
                  <a:srgbClr val="6B7280"/>
                </a:solidFill>
              </a:defRPr>
            </a:pPr>
            <a:r>
              <a:t>Doctor signs digital prescription; patient receives medicine plan instantly on screen.</a:t>
            </a:r>
          </a:p>
          <a:p>
            <a:pPr>
              <a:spcAft>
                <a:spcPts val="200"/>
              </a:spcAft>
              <a:defRPr sz="1000" b="1">
                <a:solidFill>
                  <a:srgbClr val="111827"/>
                </a:solidFill>
              </a:defRPr>
            </a:pPr>
            <a:r>
              <a:t>Involved App:</a:t>
            </a:r>
          </a:p>
          <a:p>
            <a:pPr>
              <a:defRPr sz="1100" b="1">
                <a:solidFill>
                  <a:srgbClr val="00B074"/>
                </a:solidFill>
              </a:defRPr>
            </a:pPr>
            <a:r>
              <a:t>Both Portals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UNDER THE HOOD (MADE SIMPLE)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Working Block Diagram: How Information Flows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No complex engineering jargon — see how data, video, and medical records travel safely.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59152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59152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PATIENT PORTAL</a:t>
            </a:r>
            <a:br/>
            <a:r>
              <a:t>(localhost:3001)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Patient Web App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Doctor Directory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Booking Engine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Prescription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645920"/>
            <a:ext cx="2359152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4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2359152" cy="685800"/>
          </a:xfrm>
          <a:prstGeom prst="roundRect">
            <a:avLst/>
          </a:prstGeom>
          <a:solidFill>
            <a:srgbClr val="004D33"/>
          </a:solidFill>
          <a:ln>
            <a:solidFill>
              <a:srgbClr val="004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AIVIDA CORE SERVER</a:t>
            </a:r>
            <a:br/>
            <a:r>
              <a:t>(localhost:8080)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23160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Go Telehealth API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Slot Management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Database (SQLite/SQL)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Auth &amp; Patient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2359152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359152" cy="6858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WEBRTC GATEWAY</a:t>
            </a:r>
            <a:br/>
            <a:r>
              <a:t>(Live Video Engine)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Peer-to-Peer Video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Encrypted Audio Stream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Low-Latency Signaling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In-Call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45920"/>
            <a:ext cx="2359152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645920"/>
            <a:ext cx="2359152" cy="685800"/>
          </a:xfrm>
          <a:prstGeom prst="roundRect">
            <a:avLst/>
          </a:prstGeom>
          <a:solidFill>
            <a:srgbClr val="00B074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DOCTOR PORTAL</a:t>
            </a:r>
            <a:br/>
            <a:r>
              <a:t>(localhost:3000)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423160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Clinical Command Cockpit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Real-Time Telemetry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Digital Rx Generator</a:t>
            </a:r>
          </a:p>
          <a:p>
            <a:pPr>
              <a:spcAft>
                <a:spcPts val="400"/>
              </a:spcAft>
              <a:defRPr sz="1100">
                <a:solidFill>
                  <a:srgbClr val="6B7280"/>
                </a:solidFill>
              </a:defRPr>
            </a:pPr>
            <a:r>
              <a:t>• Practice Online Toggle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59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B074"/>
                </a:solidFill>
              </a:defRPr>
            </a:pPr>
            <a:r>
              <a:t>How The 3 Flows Operate In Real-Time:</a:t>
            </a:r>
          </a:p>
          <a:p>
            <a:pPr>
              <a:spcAft>
                <a:spcPts val="200"/>
              </a:spcAft>
              <a:defRPr sz="1050" b="1">
                <a:solidFill>
                  <a:srgbClr val="111827"/>
                </a:solidFill>
              </a:defRPr>
            </a:pPr>
            <a:r>
              <a:t>1. Booking Flow: </a:t>
            </a:r>
            <a:r>
              <a:rPr b="0">
                <a:solidFill>
                  <a:srgbClr val="6B7280"/>
                </a:solidFill>
              </a:rPr>
              <a:t>Patient selects slot -&gt; Core Server confirms -&gt; Doctor dashboard schedule updates instantly.</a:t>
            </a:r>
          </a:p>
          <a:p>
            <a:pPr>
              <a:spcAft>
                <a:spcPts val="200"/>
              </a:spcAft>
              <a:defRPr sz="1050" b="1">
                <a:solidFill>
                  <a:srgbClr val="111827"/>
                </a:solidFill>
              </a:defRPr>
            </a:pPr>
            <a:r>
              <a:t>2. Video Flow: </a:t>
            </a:r>
            <a:r>
              <a:rPr b="0">
                <a:solidFill>
                  <a:srgbClr val="6B7280"/>
                </a:solidFill>
              </a:rPr>
              <a:t>Signaling negotiates encrypted room -&gt; WebRTC streams direct patient-doctor video with zero lag.</a:t>
            </a:r>
          </a:p>
          <a:p>
            <a:pPr>
              <a:spcAft>
                <a:spcPts val="200"/>
              </a:spcAft>
              <a:defRPr sz="1050" b="1">
                <a:solidFill>
                  <a:srgbClr val="111827"/>
                </a:solidFill>
              </a:defRPr>
            </a:pPr>
            <a:r>
              <a:t>3. Prescription Flow: </a:t>
            </a:r>
            <a:r>
              <a:rPr b="0">
                <a:solidFill>
                  <a:srgbClr val="6B7280"/>
                </a:solidFill>
              </a:rPr>
              <a:t>Doctor clicks 'Issue Rx' -&gt; Saved securely to database -&gt; Available on Patient Portal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VISUAL EVIDENCE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Inside the Live System: Appointments &amp; Prescriptions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Live captures from the running AIvida portals showing clean typography and medical hierarchy.</a:t>
            </a:r>
          </a:p>
        </p:txBody>
      </p:sp>
      <p:pic>
        <p:nvPicPr>
          <p:cNvPr id="4" name="Picture 3" descr="doctor_prescri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475738"/>
          </a:xfrm>
          <a:prstGeom prst="rect">
            <a:avLst/>
          </a:prstGeom>
        </p:spPr>
      </p:pic>
      <p:pic>
        <p:nvPicPr>
          <p:cNvPr id="5" name="Picture 4" descr="doctor_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4757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Left: Digital Prescriptions with distinct medication rows, dosage tags, and clear instructions.</a:t>
            </a:r>
          </a:p>
          <a:p>
            <a:pPr>
              <a:defRPr sz="1100" b="1">
                <a:solidFill>
                  <a:srgbClr val="111827"/>
                </a:solidFill>
              </a:defRPr>
            </a:pPr>
            <a:r>
              <a:t>Right: Consultation Schedule with Practice Availability toggle, time slots, and patient status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6"/>
          </a:solidFill>
          <a:ln>
            <a:solidFill>
              <a:srgbClr val="F4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074"/>
                </a:solidFill>
              </a:defRPr>
            </a:pPr>
            <a:r>
              <a:t>SUMMARY &amp; IMPACT</a:t>
            </a:r>
          </a:p>
          <a:p>
            <a:pPr>
              <a:defRPr sz="2200" b="1">
                <a:solidFill>
                  <a:srgbClr val="111827"/>
                </a:solidFill>
              </a:defRPr>
            </a:pPr>
            <a:r>
              <a:t>Why AIvida Transforms Telehealth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</a:defRPr>
            </a:pPr>
            <a:r>
              <a:t>Key advantages for patients, healthcare professionals, and medical practices.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779776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277977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Access certified care in minutes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Zero commuting, zero waiting rooms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Automatic digital prescriptions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Total privacy &amp; medical data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0016" y="1920240"/>
            <a:ext cx="2779776" cy="502920"/>
          </a:xfrm>
          <a:prstGeom prst="roundRect">
            <a:avLst/>
          </a:prstGeom>
          <a:solidFill>
            <a:srgbClr val="00B074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 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606040"/>
            <a:ext cx="277977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One-stop clinical command center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Flexible practice online/offline control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Instant electronic health records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Reduced burnout &amp; automated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94192" y="1920240"/>
            <a:ext cx="2779776" cy="5029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 Practices &amp; Clinics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606040"/>
            <a:ext cx="277977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100% paperless workflow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Higher patient retention &amp; satisfaction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Standardized clinical telemetry</a:t>
            </a:r>
          </a:p>
          <a:p>
            <a:pPr>
              <a:spcAft>
                <a:spcPts val="1400"/>
              </a:spcAft>
              <a:defRPr sz="1300">
                <a:solidFill>
                  <a:srgbClr val="111827"/>
                </a:solidFill>
              </a:defRPr>
            </a:pPr>
            <a:r>
              <a:t>✓  Scalable microservice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